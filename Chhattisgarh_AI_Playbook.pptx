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google/intl/en-in/company-news/our-first-ai-hub-in-india-powered-by-a-15-billion-investment/" TargetMode="Externa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diatoday.in/technology/news/story/anthropic-opens-india-office-announces-new-partnerships-at-india-ai-impact-summit-2869010-2026-02-16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ai.com/index/openai-for-india/" TargetMode="Externa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rnasia.com/india/news/2026/aws-partners-with-empanelled-shi-india-to-support-ai-infrastructure-under-indiaai-mission" TargetMode="Externa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rstory.com/ai-story/ministry-of-skill-development-and-entrepreneurship-sia-ai-assistant-whatsapp" TargetMode="Externa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bharatgen.com/about/" TargetMode="External"/><Relationship Id="rId1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image" Target="../media/image-11-5.png"/><Relationship Id="rId7" Type="http://schemas.openxmlformats.org/officeDocument/2006/relationships/image" Target="../media/image-1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ewsbytesapp.com/news/science/foundation-for-india-s-first-ai-based-data-center-park-laid-in-chhattisgarh/story" TargetMode="External"/><Relationship Id="rId2" Type="http://schemas.openxmlformats.org/officeDocument/2006/relationships/hyperlink" Target="https://egov.eletsonline.com/2026/07/chhattisgarh-unveils-ai-and-digital-governance-roadmap-to-drive-innovation-and-public-services/" TargetMode="External"/><Relationship Id="rId3" Type="http://schemas.openxmlformats.org/officeDocument/2006/relationships/hyperlink" Target="https://www.business-standard.com/india-news/tn-seals-10-000-crore-deal-to-build-india-s-first-sovereign-ai-park-126011300548_1.html" TargetMode="External"/><Relationship Id="rId4" Type="http://schemas.openxmlformats.org/officeDocument/2006/relationships/hyperlink" Target="https://blog.google/intl/en-in/company-news/our-first-ai-hub-in-india-powered-by-a-15-billion-investment/" TargetMode="External"/><Relationship Id="rId5" Type="http://schemas.openxmlformats.org/officeDocument/2006/relationships/hyperlink" Target="https://www.pib.gov.in/PressReleasePage.aspx?PRID=2091170" TargetMode="External"/><Relationship Id="rId6" Type="http://schemas.openxmlformats.org/officeDocument/2006/relationships/hyperlink" Target="https://www.pib.gov.in/PressReleasePage.aspx?PRID=2268112&amp;reg=3&amp;lang=1" TargetMode="External"/><Relationship Id="rId7" Type="http://schemas.openxmlformats.org/officeDocument/2006/relationships/hyperlink" Target="https://openai.com/index/openai-for-india/" TargetMode="External"/><Relationship Id="rId8" Type="http://schemas.openxmlformats.org/officeDocument/2006/relationships/hyperlink" Target="https://www.indiatoday.in/technology/news/story/anthropic-opens-india-office-announces-new-partnerships-at-india-ai-impact-summit-2869010-2026-02-16" TargetMode="External"/><Relationship Id="rId9" Type="http://schemas.openxmlformats.org/officeDocument/2006/relationships/hyperlink" Target="https://yourstory.com/ai-story/ministry-of-skill-development-and-entrepreneurship-sia-ai-assistant-whatsapp" TargetMode="External"/><Relationship Id="rId10" Type="http://schemas.openxmlformats.org/officeDocument/2006/relationships/hyperlink" Target="https://www.crnasia.com/india/news/2026/aws-partners-with-empanelled-shi-india-to-support-ai-infrastructure-under-indiaai-mission" TargetMode="External"/><Relationship Id="rId11" Type="http://schemas.openxmlformats.org/officeDocument/2006/relationships/hyperlink" Target="https://bharatgen.com/about/" TargetMode="Externa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ln w="15240">
            <a:solidFill>
              <a:srgbClr val="2D6A4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566160"/>
            <a:ext cx="3291840" cy="3291840"/>
          </a:xfrm>
          <a:prstGeom prst="ellipse">
            <a:avLst/>
          </a:prstGeom>
          <a:ln w="12700">
            <a:solidFill>
              <a:srgbClr val="D6A42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INITIATIVES  ·  STRATEGIC COLLABORATION  · 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 Chhattisgarh in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Sovereign-AI Decade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partner-by-partner playbook — built on live 2025–2026 precedents, mapped to what the state already owns.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0E2A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4988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6A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₹1,000 Cr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005840" y="5074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Centre Park, Nava Raipur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43434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0E2A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44988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6A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572000" y="5074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planned capacity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09560" y="43434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0E2A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44988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6A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1st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138160" y="5074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AI-SEZ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Government of Chhattisgarh  |  Electronics &amp; IT  ·  July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tailwinds make this the window to move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92808"/>
            <a:ext cx="777240" cy="7772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2094890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8562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Subsidised sovereign compute is live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87552" y="25146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IndiaAI Mission pools heavily-subsidised GPU capacity (e.g. Yotta's 10,000 NVIDIA B300s) that states and startups can draw down — the cost barrier to serious AI has collapsed.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9224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12280" y="1892808"/>
            <a:ext cx="777240" cy="7772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362" y="2094890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18120" y="18562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national push for Indic + voice-first AI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839712" y="25146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MeitY, BharatGen and Bhashini are funding foundational models for non-English, non-Hindi speakers — directly relevant to Chhattisgarh's tribal-language population.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087368"/>
            <a:ext cx="777240" cy="7772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4289450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0507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States are signing, not waiting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87552" y="47091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(₹10,000 Cr Sovereign AI Park), Andhra ($15B Google hub), Telangana (Blaize edge R&amp;D) have set repeatable templates a new state can follow fast.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92240" y="37947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12280" y="4087368"/>
            <a:ext cx="777240" cy="777240"/>
          </a:xfrm>
          <a:prstGeom prst="ellipse">
            <a:avLst/>
          </a:prstGeom>
          <a:solidFill>
            <a:srgbClr val="D6A42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362" y="4289450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18120" y="40507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Chhattisgarh already holds the hard asset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839712" y="47091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states pitch for a data centre. Chhattisgarh has already broken ground on one — plus an AI-SEZ and capital subsidies. The remaining ask is models and use-cases.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Chhattisgarh already has in the ground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74520"/>
            <a:ext cx="822960" cy="8229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0884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834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Nava Raipur AI Data Centre Park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3493008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AI-based data-centre park. ₹1,000 Cr, launched 2025; 5 MW scaling to 150 MW, up to 100,000 GPUs, with a dedicated AI-services SEZ — a first of its kind.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36008" y="160020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56048" y="1874520"/>
            <a:ext cx="822960" cy="8229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018" y="20884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28616" y="2834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Digital-Governance Roadmap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28616" y="3493008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Unveiled July 2026: AI Centres of Excellence, Data Labs and a Security Operations Centre in Nava Raipur, plus BharatNet-3, Seva Setu and e-Pragati PARAS.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631936" y="160020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51976" y="1874520"/>
            <a:ext cx="822960" cy="8229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946" y="208849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24544" y="2834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Development Policy 2024–30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924544" y="3493008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50% fixed-capital subsidy (cap ₹450 Cr) with explicit incentives for AI, robotics and advanced-technology investment — a ready commercial hook for partners.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52628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13342A"/>
          </a:solidFill>
          <a:ln/>
        </p:spPr>
      </p:sp>
      <p:sp>
        <p:nvSpPr>
          <p:cNvPr id="20" name="Shape 15"/>
          <p:cNvSpPr/>
          <p:nvPr/>
        </p:nvSpPr>
        <p:spPr>
          <a:xfrm>
            <a:off x="960120" y="4983480"/>
            <a:ext cx="777240" cy="777240"/>
          </a:xfrm>
          <a:prstGeom prst="ellipse">
            <a:avLst/>
          </a:prstGeom>
          <a:solidFill>
            <a:srgbClr val="D6A42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202" y="518556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7548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angle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965960" y="512064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Andhra's story is “come build us compute.” Chhattisgarh's is different: the compute, the AI-SEZ and the incentives already exist. Every partner conversation should therefore open with use-cases and models to run on assets the state already controls — a far faster path to a signed MoU.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DEALS ACTUALLY GET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repeatable templates from other states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1F5F1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19072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6171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459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 AI Park / data-residency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37760" y="16459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× Sarvam — ₹10,000 Cr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0" y="164592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models &amp; compute legally bound inside the state; kills vendor lock-in and foreign-cloud dependency.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40080" y="248716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1F5F1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2633472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" y="277611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5603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Mega-infra + visible grassroots benefit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937760" y="25603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 × Google — $15B Vizag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680960" y="256032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infra deals clear fast only when paired with immediate skilling and local-industry benefit.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640080" y="340156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1F5F1"/>
          </a:solidFill>
          <a:ln/>
        </p:spPr>
      </p:sp>
      <p:sp>
        <p:nvSpPr>
          <p:cNvPr id="17" name="Shape 13"/>
          <p:cNvSpPr/>
          <p:nvPr/>
        </p:nvSpPr>
        <p:spPr>
          <a:xfrm>
            <a:off x="841248" y="3547872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3690518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4747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Compute-for-IP anchor model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937760" y="34747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 × Sarvam — sovereign LLM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680960" y="347472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subsidises GPUs; developer returns open weights + native Indic models. IP tailored to India wins subsidy.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640080" y="431596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1F5F1"/>
          </a:solidFill>
          <a:ln/>
        </p:spPr>
      </p:sp>
      <p:sp>
        <p:nvSpPr>
          <p:cNvPr id="23" name="Shape 18"/>
          <p:cNvSpPr/>
          <p:nvPr/>
        </p:nvSpPr>
        <p:spPr>
          <a:xfrm>
            <a:off x="841248" y="4462272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" y="4604918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43891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&amp; hardware co-design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937760" y="43891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VYOMA · Telangana × Blaize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680960" y="438912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and states now fund offline, low-power edge AI for rural, low-connectivity environments.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640080" y="523036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1F5F1"/>
          </a:solidFill>
          <a:ln/>
        </p:spPr>
      </p:sp>
      <p:sp>
        <p:nvSpPr>
          <p:cNvPr id="29" name="Shape 23"/>
          <p:cNvSpPr/>
          <p:nvPr/>
        </p:nvSpPr>
        <p:spPr>
          <a:xfrm>
            <a:off x="841248" y="5376672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94" y="5519318"/>
            <a:ext cx="263347" cy="26334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54480" y="53035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Partner-led execution via empaneled SIs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4937760" y="53035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× SHI India · Microsoft × RailTel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680960" y="530352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 reach government through empaneled system integrators to clear procurement rules cleanly.</a:t>
            </a:r>
            <a:endParaRPr lang="en-US" sz="1080" dirty="0"/>
          </a:p>
        </p:txBody>
      </p:sp>
      <p:sp>
        <p:nvSpPr>
          <p:cNvPr id="34" name="Text 27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plays which role in the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1F5F1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28216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2" y="1866108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6459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 LLMs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0" y="16459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(Gemini), OpenAI, Anthropic (Claude)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35240" y="16459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raw capability; courted for localization, education &amp; sovereign-node deals.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40080" y="248716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642616"/>
            <a:ext cx="530352" cy="53035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72" y="2780508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72768" y="25603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+ distribution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114800" y="25603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(Llama on WhatsApp/Messenger)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635240" y="25603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Population-scale reach through messaging; ideal for citizen-facing services.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640080" y="340156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1F5F1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3557016"/>
            <a:ext cx="530352" cy="530352"/>
          </a:xfrm>
          <a:prstGeom prst="ellipse">
            <a:avLst/>
          </a:prstGeom>
          <a:solidFill>
            <a:srgbClr val="D6A42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2" y="3694908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72768" y="34747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 Indic stack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114800" y="34747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· BharatGen · Krutrim · Hanooman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635240" y="34747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India-owned models, open weights, deployment-ready government stacks.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640080" y="431596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68680" y="4471416"/>
            <a:ext cx="530352" cy="53035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572" y="4609308"/>
            <a:ext cx="254569" cy="25456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72768" y="43891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Hyperscalers + SIs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114800" y="43891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AWS (via empaneled SHI India)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635240" y="43891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procurement, managed compute, official upskilling programmes.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640080" y="523036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1F5F1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8680" y="5385816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572" y="5523708"/>
            <a:ext cx="254569" cy="25456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72768" y="53035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&amp; edge hardware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114800" y="53035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Yotta × NVIDIA · Blaize · AdaniConneX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7635240" y="53035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layer — subsidised GPU pools and low-power edge silicon.</a:t>
            </a:r>
            <a:endParaRPr lang="en-US" sz="1080" dirty="0"/>
          </a:p>
        </p:txBody>
      </p:sp>
      <p:sp>
        <p:nvSpPr>
          <p:cNvPr id="34" name="Text 27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1334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10896"/>
            <a:ext cx="658368" cy="65836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482072"/>
            <a:ext cx="316017" cy="316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81328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LLM + GIGAWATT INFRASTRUCTURE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966960" y="3108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052560" y="6583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u="sng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Google — sour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Primary source ↗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5361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GOOGLE IS OFFERING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68580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$15B “AI Hub” in Visakhapatnam (2026–30) — India's first gigawatt-scale, three-campus AI data centre with AdaniConneX &amp; Airtel Nxtra.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eastern subsea-cable gateway plus clean-energy build-out — full Google Cloud + Gemini stack brought on-shore.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“AI Corridor” model: local-first procurement, SMEs folded into Google's global operations, and a Bharat AI Shakti skilling conclave.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rural use-cases already running — e.g. low-cost mobile screening for diabetic retinopathy and TB in Andhra clinics.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18120" y="1572768"/>
            <a:ext cx="3703320" cy="4663440"/>
          </a:xfrm>
          <a:prstGeom prst="roundRect">
            <a:avLst>
              <a:gd name="adj" fmla="val 2222"/>
            </a:avLst>
          </a:prstGeom>
          <a:solidFill>
            <a:srgbClr val="FBF3DC"/>
          </a:solidFill>
          <a:ln w="16510">
            <a:solidFill>
              <a:srgbClr val="D6A42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110728" y="1828800"/>
            <a:ext cx="640080" cy="640080"/>
          </a:xfrm>
          <a:prstGeom prst="ellipse">
            <a:avLst/>
          </a:prstGeom>
          <a:solidFill>
            <a:srgbClr val="D6A42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149" y="19952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69680" y="1874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110728" y="26974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Central-India Gemini/Cloud node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110728" y="3081528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Nava Raipur's park + captive green power as landlocked redundancy to the coastal Vizag hub.</a:t>
            </a:r>
            <a:endParaRPr lang="en-US" sz="1180" dirty="0"/>
          </a:p>
        </p:txBody>
      </p:sp>
      <p:sp>
        <p:nvSpPr>
          <p:cNvPr id="17" name="Text 13"/>
          <p:cNvSpPr/>
          <p:nvPr/>
        </p:nvSpPr>
        <p:spPr>
          <a:xfrm>
            <a:off x="8110728" y="448056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skilling for tribal &amp; agri youth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110728" y="4864608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AI-Corridor skilling + rural-health-screening template to Bastar and Surguja districts.</a:t>
            </a:r>
            <a:endParaRPr lang="en-US" sz="1180" dirty="0"/>
          </a:p>
        </p:txBody>
      </p:sp>
      <p:sp>
        <p:nvSpPr>
          <p:cNvPr id="19" name="Text 15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1334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10896"/>
            <a:ext cx="658368" cy="65836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482072"/>
            <a:ext cx="316017" cy="316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81328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LLM · APPLIED-LOCALIZATION BLUEPRINT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966960" y="3108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052560" y="6583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u="sng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Anthropic — sour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Primary source ↗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5361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ANTHROPIC IS OFFERING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68580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India footprint (Bengaluru office) and an ecosystem, not just raw API, approach to the public sector.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Public-interest evaluation benchmarks for Indian agriculture &amp; law, built with Karya and the Collective Intelligence Project.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optimised for ten widely-spoken Indian languages, working with Digital Green and Adalat AI on domain use-cases.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exclusive AI-lab tie-up with Pratham — an “Anytime Testing Machine” aimed at returning women to the workforce.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18120" y="1572768"/>
            <a:ext cx="3703320" cy="4663440"/>
          </a:xfrm>
          <a:prstGeom prst="roundRect">
            <a:avLst>
              <a:gd name="adj" fmla="val 2222"/>
            </a:avLst>
          </a:prstGeom>
          <a:solidFill>
            <a:srgbClr val="FBF3DC"/>
          </a:solidFill>
          <a:ln w="16510">
            <a:solidFill>
              <a:srgbClr val="D6A42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110728" y="1828800"/>
            <a:ext cx="640080" cy="640080"/>
          </a:xfrm>
          <a:prstGeom prst="ellipse">
            <a:avLst/>
          </a:prstGeom>
          <a:solidFill>
            <a:srgbClr val="D6A42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149" y="19952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69680" y="1874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110728" y="26974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CG dialects to Claude's evals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110728" y="3081528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Karya-style, honoraria-paid data partnership sourced from tribal districts for Chhattisgarhi, Gondi &amp; Halbi.</a:t>
            </a:r>
            <a:endParaRPr lang="en-US" sz="1180" dirty="0"/>
          </a:p>
        </p:txBody>
      </p:sp>
      <p:sp>
        <p:nvSpPr>
          <p:cNvPr id="17" name="Text 13"/>
          <p:cNvSpPr/>
          <p:nvPr/>
        </p:nvSpPr>
        <p:spPr>
          <a:xfrm>
            <a:off x="8110728" y="448056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Pratham-model learning for CG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110728" y="4864608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testing machine for out-of-school tribal girls and migrant returnees, tied to state schemes.</a:t>
            </a:r>
            <a:endParaRPr lang="en-US" sz="1180" dirty="0"/>
          </a:p>
        </p:txBody>
      </p:sp>
      <p:sp>
        <p:nvSpPr>
          <p:cNvPr id="19" name="Text 15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1334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10896"/>
            <a:ext cx="658368" cy="65836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482072"/>
            <a:ext cx="316017" cy="316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81328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LLM · SOVEREIGN CAPACITY &amp; INSTITUTIONS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966960" y="3108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052560" y="6583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u="sng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OpenAI — sour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Primary source ↗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5361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OPENAI IS OFFERING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68580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“OpenAI for India” — a programme built around data-residency and deep infrastructure embedding.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Tata Group tie-up using TCS's HyperVault to provision 100 MW (scaling to 1 GW) of sovereign, in-country AI capacity.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AICTE MoU: 150,000 ChatGPT Go licences for Tier-2 &amp; Tier-3 institutions, with “Train-the-Trainer” faculty programmes.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government workloads kept entirely within Indian borders for compliance.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18120" y="1572768"/>
            <a:ext cx="3703320" cy="4663440"/>
          </a:xfrm>
          <a:prstGeom prst="roundRect">
            <a:avLst>
              <a:gd name="adj" fmla="val 2222"/>
            </a:avLst>
          </a:prstGeom>
          <a:solidFill>
            <a:srgbClr val="FBF3DC"/>
          </a:solidFill>
          <a:ln w="16510">
            <a:solidFill>
              <a:srgbClr val="D6A42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110728" y="1828800"/>
            <a:ext cx="640080" cy="640080"/>
          </a:xfrm>
          <a:prstGeom prst="ellipse">
            <a:avLst/>
          </a:prstGeom>
          <a:solidFill>
            <a:srgbClr val="D6A42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149" y="19952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69680" y="1874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110728" y="26974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win: onboard CG colleges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110728" y="3081528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Chhattisgarh's Tier-2/3 engineering &amp; polytechnic colleges into the AICTE ChatGPT Go + trainer allotment now.</a:t>
            </a:r>
            <a:endParaRPr lang="en-US" sz="1180" dirty="0"/>
          </a:p>
        </p:txBody>
      </p:sp>
      <p:sp>
        <p:nvSpPr>
          <p:cNvPr id="17" name="Text 13"/>
          <p:cNvSpPr/>
          <p:nvPr/>
        </p:nvSpPr>
        <p:spPr>
          <a:xfrm>
            <a:off x="8110728" y="448056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 node in the AI-SEZ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110728" y="4864608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Nava Raipur's SEZ as a central-India residency node complementing Tata's HyperVault capacity.</a:t>
            </a:r>
            <a:endParaRPr lang="en-US" sz="1180" dirty="0"/>
          </a:p>
        </p:txBody>
      </p:sp>
      <p:sp>
        <p:nvSpPr>
          <p:cNvPr id="19" name="Text 15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1334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10896"/>
            <a:ext cx="658368" cy="65836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482072"/>
            <a:ext cx="316017" cy="316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&amp; AWS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81328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 · PARTNER-LED EXECUTION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966960" y="3108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052560" y="6583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u="sng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Microsoft &amp; AWS — sour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Primary source ↗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5361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HYPERSCALERS ARE OFFERING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68580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via SHI India (empaneled under the IndiaAI Mission) — SageMaker and services drawn from subsidised government compute.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× IndiaAI MoU plus a 5-year RailTel public-sector deal.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Productivity Labs” and an “AI Catalysts” Centre of Excellence rolling out across 10 states.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focus on upskilling government officials and building rural AI tools through compliant SI vehicles.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18120" y="1572768"/>
            <a:ext cx="3703320" cy="4663440"/>
          </a:xfrm>
          <a:prstGeom prst="roundRect">
            <a:avLst>
              <a:gd name="adj" fmla="val 2222"/>
            </a:avLst>
          </a:prstGeom>
          <a:solidFill>
            <a:srgbClr val="FBF3DC"/>
          </a:solidFill>
          <a:ln w="16510">
            <a:solidFill>
              <a:srgbClr val="D6A42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110728" y="1828800"/>
            <a:ext cx="640080" cy="640080"/>
          </a:xfrm>
          <a:prstGeom prst="ellipse">
            <a:avLst/>
          </a:prstGeom>
          <a:solidFill>
            <a:srgbClr val="D6A42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149" y="19952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69680" y="1874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110728" y="26974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 to be an “AI Catalysts” state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110728" y="3081528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 Microsoft CoE / AI Productivity Lab for CG officials at Nava Raipur — join the 10-state cohort.</a:t>
            </a:r>
            <a:endParaRPr lang="en-US" sz="1180" dirty="0"/>
          </a:p>
        </p:txBody>
      </p:sp>
      <p:sp>
        <p:nvSpPr>
          <p:cNvPr id="17" name="Text 13"/>
          <p:cNvSpPr/>
          <p:nvPr/>
        </p:nvSpPr>
        <p:spPr>
          <a:xfrm>
            <a:off x="8110728" y="448056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Subsidised compute for CG startups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110728" y="4864608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AWS–SHI empaneled route to draw IndiaAI compute, paired with the DC Park's own GPUs.</a:t>
            </a:r>
            <a:endParaRPr lang="en-US" sz="1180" dirty="0"/>
          </a:p>
        </p:txBody>
      </p:sp>
      <p:sp>
        <p:nvSpPr>
          <p:cNvPr id="19" name="Text 15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1334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10896"/>
            <a:ext cx="658368" cy="65836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482072"/>
            <a:ext cx="316017" cy="316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81328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LLAMA + POPULATION-SCALE MESSAGING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966960" y="3108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052560" y="6583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u="sng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Meta — sour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Primary source ↗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5361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META IS OFFERING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68580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IndiaAI × Meta MoU opening Llama, Massively Multilingual Speech and No-Language-Left-Behind for low-resource Indic datasets.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India Assistant (SIA) — a Llama-powered, voice-enabled skilling bot live on WhatsApp; built with NSDC, implemented by Sarvam, in English/Hindi/Hinglish.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is in active talks with states (Andhra, Maharashtra, Odisha, Telangana) for WhatsApp + Llama e-governance.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edge: near-zero device barrier — services reach citizens on an app they already use daily.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18120" y="1572768"/>
            <a:ext cx="3703320" cy="4663440"/>
          </a:xfrm>
          <a:prstGeom prst="roundRect">
            <a:avLst>
              <a:gd name="adj" fmla="val 2222"/>
            </a:avLst>
          </a:prstGeom>
          <a:solidFill>
            <a:srgbClr val="FBF3DC"/>
          </a:solidFill>
          <a:ln w="16510">
            <a:solidFill>
              <a:srgbClr val="D6A42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110728" y="1828800"/>
            <a:ext cx="640080" cy="640080"/>
          </a:xfrm>
          <a:prstGeom prst="ellipse">
            <a:avLst/>
          </a:prstGeom>
          <a:solidFill>
            <a:srgbClr val="D6A42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149" y="19952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69680" y="1874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110728" y="26974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“Seva Setu on WhatsApp”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110728" y="3081528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Llama + Sarvam citizen-services bot in Chhattisgarhi, Gondi &amp; Halbi — riding Meta's proven state e-gov template.</a:t>
            </a:r>
            <a:endParaRPr lang="en-US" sz="1180" dirty="0"/>
          </a:p>
        </p:txBody>
      </p:sp>
      <p:sp>
        <p:nvSpPr>
          <p:cNvPr id="17" name="Text 13"/>
          <p:cNvSpPr/>
          <p:nvPr/>
        </p:nvSpPr>
        <p:spPr>
          <a:xfrm>
            <a:off x="8110728" y="448056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 for CG's tribal workforce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110728" y="4864608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 the skilling bot and extend NLLB/MMS to CG dialects, building the dataset as you deploy.</a:t>
            </a:r>
            <a:endParaRPr lang="en-US" sz="1180" dirty="0"/>
          </a:p>
        </p:txBody>
      </p:sp>
      <p:sp>
        <p:nvSpPr>
          <p:cNvPr id="19" name="Text 15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1334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10896"/>
            <a:ext cx="658368" cy="658368"/>
          </a:xfrm>
          <a:prstGeom prst="ellipse">
            <a:avLst/>
          </a:prstGeom>
          <a:solidFill>
            <a:srgbClr val="D6A42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482072"/>
            <a:ext cx="316017" cy="316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743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Indian Sovereign Stack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81328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· BHARATGEN · KRUTRIM · HANOOMAN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966960" y="3108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052560" y="6583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u="sng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BharatGe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Primary source ↗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155448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1783080"/>
            <a:ext cx="658368" cy="65836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288" y="195425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25420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Sarvam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96112" y="301752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MeitY-selected to build India's sovereign LLM (30B &amp; 105B). The compute-for-open-weights anchor model.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3602736" y="155448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858768" y="1783080"/>
            <a:ext cx="658368" cy="65836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944" y="195425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58768" y="25420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BharatGen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858768" y="301752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government-funded (DST / IIT-Bombay). Foundational Indic LLM/ASR/TTS + the “Bharat Data Sagar” data ecosystem, open-sourced for SIs to build on.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565392" y="155448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21424" y="1783080"/>
            <a:ext cx="658368" cy="65836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600" y="1954256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21424" y="25420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Krutrim × BharatSah'AI'yak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821424" y="301752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deployment-ready public-sector RAG stack (ex-Samagra). Ran KumbhSah'AI'yak for millions at Maha Kumbh 2025.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9528048" y="155448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784080" y="1783080"/>
            <a:ext cx="658368" cy="65836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5256" y="1954256"/>
            <a:ext cx="316017" cy="31601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84080" y="25420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Hanooman / SML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784080" y="301752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Telangana &amp; DARPG: high-accuracy translation of circulars and court orders between English and regional languages.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640080" y="466344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FBF3DC"/>
          </a:solidFill>
          <a:ln w="16510">
            <a:solidFill>
              <a:srgbClr val="D6A42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32688" y="5029200"/>
            <a:ext cx="658368" cy="658368"/>
          </a:xfrm>
          <a:prstGeom prst="ellipse">
            <a:avLst/>
          </a:prstGeom>
          <a:solidFill>
            <a:srgbClr val="D6A42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864" y="5200376"/>
            <a:ext cx="316017" cy="31601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783080" y="4892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783080" y="519379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governance RAG bots (agriculture, education schemes, grievances) on the proven Krutrim / BharatSah'AI'yak stack — cost-effective and last-mile.   </a:t>
            </a:r>
            <a:pPr indent="0" marL="0">
              <a:lnSpc>
                <a:spcPct val="102000"/>
              </a:lnSpc>
              <a:buNone/>
            </a:pPr>
            <a:r>
              <a:rPr lang="en-US" sz="1230" b="1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Chhattisgarhi, Gondi &amp; Halbi corpora to Bharat Data Sagar to receive certified Indic base models tuned for the state — effectively for free.</a:t>
            </a:r>
            <a:endParaRPr lang="en-US" sz="1230" dirty="0"/>
          </a:p>
        </p:txBody>
      </p:sp>
      <p:sp>
        <p:nvSpPr>
          <p:cNvPr id="34" name="Text 26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ENABLERS TO PLUG INTO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levers that de-risk every deal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1F5F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92808"/>
            <a:ext cx="713232" cy="71323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207824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IndiaAI subsidised compute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828800" y="216712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down from the government GPU pool — Yotta committed 10,000 NVIDIA B300s to the Mission for low-cost access.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492240" y="160020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1F5F1"/>
          </a:solidFill>
          <a:ln/>
        </p:spPr>
      </p:sp>
      <p:sp>
        <p:nvSpPr>
          <p:cNvPr id="10" name="Shape 7"/>
          <p:cNvSpPr/>
          <p:nvPr/>
        </p:nvSpPr>
        <p:spPr>
          <a:xfrm>
            <a:off x="6766560" y="1892808"/>
            <a:ext cx="713232" cy="71323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000" y="207824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BharatGen &amp; Bharat Data Sagar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680960" y="216712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Data-for-models: supply state-language corpora, receive certified open base models in return.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640080" y="3081528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1F5F1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3374136"/>
            <a:ext cx="713232" cy="71323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40" y="3559576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2644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Bhashini language APIs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828800" y="364845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Indic translation/voice — already powering GeM procurement and Aadhaar voice navigation.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492240" y="3081528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1F5F1"/>
          </a:solidFill>
          <a:ln/>
        </p:spPr>
      </p:sp>
      <p:sp>
        <p:nvSpPr>
          <p:cNvPr id="20" name="Shape 15"/>
          <p:cNvSpPr/>
          <p:nvPr/>
        </p:nvSpPr>
        <p:spPr>
          <a:xfrm>
            <a:off x="6766560" y="3374136"/>
            <a:ext cx="713232" cy="71323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000" y="3559576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0" y="32644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Empaneled SIs (SHI India)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680960" y="364845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compliant, pre-cleared procurement vehicle for hyperscaler compute and services.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640080" y="4562856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1F5F1"/>
          </a:solidFill>
          <a:ln/>
        </p:spPr>
      </p:sp>
      <p:sp>
        <p:nvSpPr>
          <p:cNvPr id="25" name="Shape 19"/>
          <p:cNvSpPr/>
          <p:nvPr/>
        </p:nvSpPr>
        <p:spPr>
          <a:xfrm>
            <a:off x="914400" y="4855464"/>
            <a:ext cx="713232" cy="71323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840" y="5040904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47457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MeitY MoU template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828800" y="512978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institutional agreement other states have already used to move quickly.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6492240" y="4562856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1F5F1"/>
          </a:solidFill>
          <a:ln/>
        </p:spPr>
      </p:sp>
      <p:sp>
        <p:nvSpPr>
          <p:cNvPr id="30" name="Shape 23"/>
          <p:cNvSpPr/>
          <p:nvPr/>
        </p:nvSpPr>
        <p:spPr>
          <a:xfrm>
            <a:off x="6766560" y="4855464"/>
            <a:ext cx="713232" cy="71323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2000" y="5040904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680960" y="47457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DPI rails (Aadhaar · UPI · Seva Setu)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680960" y="512978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payments and delivery already exist — AI layers on top rather than starting from scratch.</a:t>
            </a:r>
            <a:endParaRPr lang="en-US" sz="1130" dirty="0"/>
          </a:p>
        </p:txBody>
      </p:sp>
      <p:sp>
        <p:nvSpPr>
          <p:cNvPr id="34" name="Text 26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LANDS HARDEST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Chhattisgarh opportunity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92808"/>
            <a:ext cx="713232" cy="71323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207824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Tribal &amp; regional languages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28800" y="21488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Chhattisgarhi, Gondi, Halbi, Surgujia — a rich low-resource dataset and voice-first opportunity nationally scarce elsewhere.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6492240" y="160020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66560" y="1892808"/>
            <a:ext cx="713232" cy="71323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000" y="207824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Agriculture — the rice bowl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680960" y="21488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mandi-price and scheme advisory RAG bots; procurement support for farmers via voice and WhatsApp.</a:t>
            </a:r>
            <a:endParaRPr lang="en-US" sz="1120" dirty="0"/>
          </a:p>
        </p:txBody>
      </p:sp>
      <p:sp>
        <p:nvSpPr>
          <p:cNvPr id="14" name="Shape 10"/>
          <p:cNvSpPr/>
          <p:nvPr/>
        </p:nvSpPr>
        <p:spPr>
          <a:xfrm>
            <a:off x="640080" y="3081528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374136"/>
            <a:ext cx="713232" cy="71323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40" y="3559576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2644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Mining &amp; minerals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828800" y="363016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monitoring, predictive maintenance and digital twins for the state's coal and iron-ore backbone.</a:t>
            </a:r>
            <a:endParaRPr lang="en-US" sz="1120" dirty="0"/>
          </a:p>
        </p:txBody>
      </p:sp>
      <p:sp>
        <p:nvSpPr>
          <p:cNvPr id="19" name="Shape 14"/>
          <p:cNvSpPr/>
          <p:nvPr/>
        </p:nvSpPr>
        <p:spPr>
          <a:xfrm>
            <a:off x="6492240" y="3081528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66560" y="3374136"/>
            <a:ext cx="713232" cy="71323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000" y="3559576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0" y="32644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 produce (MFP)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680960" y="363016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Fair-price discovery and traceability for tendu and minor forest produce that millions depend on.</a:t>
            </a:r>
            <a:endParaRPr lang="en-US" sz="1120" dirty="0"/>
          </a:p>
        </p:txBody>
      </p:sp>
      <p:sp>
        <p:nvSpPr>
          <p:cNvPr id="24" name="Shape 18"/>
          <p:cNvSpPr/>
          <p:nvPr/>
        </p:nvSpPr>
        <p:spPr>
          <a:xfrm>
            <a:off x="640080" y="4562856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4855464"/>
            <a:ext cx="713232" cy="71323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840" y="5040904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47457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&amp; education in remote districts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828800" y="511149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offline AI and low-cost mobile diagnostics for LWE-affected and hard-to-reach areas (the VYOMA edge template).</a:t>
            </a:r>
            <a:endParaRPr lang="en-US" sz="1120" dirty="0"/>
          </a:p>
        </p:txBody>
      </p:sp>
      <p:sp>
        <p:nvSpPr>
          <p:cNvPr id="29" name="Shape 22"/>
          <p:cNvSpPr/>
          <p:nvPr/>
        </p:nvSpPr>
        <p:spPr>
          <a:xfrm>
            <a:off x="6492240" y="4562856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766560" y="4855464"/>
            <a:ext cx="713232" cy="71323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2000" y="5040904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680960" y="47457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Tribal welfare &amp; governance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680960" y="511149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Voice/WhatsApp citizen services and last-mile scheme delivery in the citizen's own dialect.</a:t>
            </a:r>
            <a:endParaRPr lang="en-US" sz="1120" dirty="0"/>
          </a:p>
        </p:txBody>
      </p:sp>
      <p:sp>
        <p:nvSpPr>
          <p:cNvPr id="34" name="Text 26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engagement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74520"/>
            <a:ext cx="713232" cy="713232"/>
          </a:xfrm>
          <a:prstGeom prst="ellipse">
            <a:avLst/>
          </a:prstGeom>
          <a:solidFill>
            <a:srgbClr val="D6A4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05996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19019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82880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32688" y="2788920"/>
            <a:ext cx="3063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6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an IndiaAI / MeitY-aligned MoU using the proven template.</a:t>
            </a:r>
            <a:endParaRPr lang="en-US" sz="116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6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Tier-2/3 colleges to AICTE ChatGPT Go licences.</a:t>
            </a:r>
            <a:endParaRPr lang="en-US" sz="116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6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 IndiaAI GPU compute draw-down.</a:t>
            </a:r>
            <a:endParaRPr lang="en-US" sz="116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6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WhatsApp citizen-service pilot (Meta + Sarvam).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4636008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28616" y="1874520"/>
            <a:ext cx="713232" cy="71323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056" y="2059960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19019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5824728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28616" y="2788920"/>
            <a:ext cx="3063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6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one flagship use-case in the Nava Raipur SEZ — a Microsoft AI-Catalysts CoE, Google skilling, or an OpenAI sovereign node.</a:t>
            </a:r>
            <a:endParaRPr lang="en-US" sz="116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6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Bharat Data Sagar language-data partnership for CG dialects.</a:t>
            </a:r>
            <a:endParaRPr lang="en-US" sz="116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6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governance RAG bots on Krutrim / BharatSah'AI'yak.</a:t>
            </a:r>
            <a:endParaRPr lang="en-US" sz="1160" dirty="0"/>
          </a:p>
        </p:txBody>
      </p:sp>
      <p:sp>
        <p:nvSpPr>
          <p:cNvPr id="16" name="Shape 12"/>
          <p:cNvSpPr/>
          <p:nvPr/>
        </p:nvSpPr>
        <p:spPr>
          <a:xfrm>
            <a:off x="8631936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24544" y="1874520"/>
            <a:ext cx="713232" cy="713232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984" y="2059960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02368" y="19019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9820656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9–24 months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924544" y="2788920"/>
            <a:ext cx="3063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6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the DC Park as a central-India sovereign-compute node.</a:t>
            </a:r>
            <a:endParaRPr lang="en-US" sz="116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6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edge / offline AI to LWE and remote districts.</a:t>
            </a:r>
            <a:endParaRPr lang="en-US" sz="116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6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sector Centres of Excellence: agriculture, mining, forest produce.</a:t>
            </a:r>
            <a:endParaRPr lang="en-US" sz="1160" dirty="0"/>
          </a:p>
        </p:txBody>
      </p:sp>
      <p:sp>
        <p:nvSpPr>
          <p:cNvPr id="22" name="Text 17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3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4572000" cy="4572000"/>
          </a:xfrm>
          <a:prstGeom prst="ellipse">
            <a:avLst/>
          </a:prstGeom>
          <a:ln w="15240">
            <a:solidFill>
              <a:srgbClr val="2D6A4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1554480"/>
            <a:ext cx="4023360" cy="4023360"/>
          </a:xfrm>
          <a:prstGeom prst="ellipse">
            <a:avLst/>
          </a:prstGeom>
          <a:ln w="12700">
            <a:solidFill>
              <a:srgbClr val="D6A42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Chhattisgarh already owns the hard part.</a:t>
            </a:r>
            <a:endParaRPr lang="en-US" sz="3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move is choosing what to run on it.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04672" y="324612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D9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every partner conversation with the state's compute, AI-SEZ and incentives in hand — then match each partner to the use-case only they can deliver. The precedents are set; the assets are built; the language advantage is unique. What remains is the signature.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4892040"/>
            <a:ext cx="2457907" cy="566928"/>
          </a:xfrm>
          <a:prstGeom prst="roundRect">
            <a:avLst>
              <a:gd name="adj" fmla="val 50000"/>
            </a:avLst>
          </a:prstGeom>
          <a:solidFill>
            <a:srgbClr val="0E2A22"/>
          </a:solidFill>
          <a:ln w="12700">
            <a:solidFill>
              <a:srgbClr val="D6A4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892040"/>
            <a:ext cx="24579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 the ground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82619" y="4892040"/>
            <a:ext cx="2161642" cy="566928"/>
          </a:xfrm>
          <a:prstGeom prst="roundRect">
            <a:avLst>
              <a:gd name="adj" fmla="val 50000"/>
            </a:avLst>
          </a:prstGeom>
          <a:solidFill>
            <a:srgbClr val="0E2A22"/>
          </a:solidFill>
          <a:ln w="12700">
            <a:solidFill>
              <a:srgbClr val="D6A4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2619" y="4892040"/>
            <a:ext cx="21616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1st AI-SEZ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64301" y="4892040"/>
            <a:ext cx="2852928" cy="566928"/>
          </a:xfrm>
          <a:prstGeom prst="roundRect">
            <a:avLst>
              <a:gd name="adj" fmla="val 50000"/>
            </a:avLst>
          </a:prstGeom>
          <a:solidFill>
            <a:srgbClr val="0E2A22"/>
          </a:solidFill>
          <a:ln w="12700">
            <a:solidFill>
              <a:srgbClr val="D6A4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4301" y="489204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language dataset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Chhattisgarh  ·  Electronics &amp; IT  ·  Next step: convene a partner shortlist workshop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precedents cited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u="sng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hhattisgarh AI Data Centre Park — Invest CG / Newsbytes (2025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Chhattisgarh AI Data Centre Park — Invest CG / Newsbytes (2025)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u="sng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Chhattisgarh AI &amp; Digital-Governance Roadmap — Elets eGov (Jul 2026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Chhattisgarh AI &amp; Digital-Governance Roadmap — Elets eGov (Jul 2026)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u="sng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Tamil Nadu × Sarvam Sovereign AI Park — Business Standard (Jan 2026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Tamil Nadu × Sarvam Sovereign AI Park — Business Standard (Jan 2026)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u="sng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Andhra × Google $15B Vizag hub — Google Blog (2025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Andhra × Google $15B Vizag hub — Google Blog (2025)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u="sng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MeitY / IndiaAI Mission — PI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MeitY / IndiaAI Mission — PIB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u="sng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Bhashini VYOMA edge device — PIB (2026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Bhashini VYOMA edge device — PIB (2026)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309360" y="1600200"/>
            <a:ext cx="5212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u="sng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OpenAI for India · Tata HyperVault · AICTE MoU — OpenA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for India · Tata HyperVault · AICTE MoU — OpenAI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u="sng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Anthropic Bengaluru · Pratham · Karya — India Today (2026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Bengaluru · Pratham · Karya — India Today (2026)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u="sng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Meta × IndiaAI; Skill India Assistant — YourS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 × IndiaAI; Skill India Assistant — YourStory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u="sng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AWS × SHI India; Microsoft × RailTel — CRN Asi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× SHI India; Microsoft × RailTel — CRN Asia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u="sng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BharatGen / Bharat Data Sagar — bharatgen.com / DS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BharatGen / Bharat Data Sagar — bharatgen.com / DST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Krutrim, Hanooman, Yotta × NVIDIA, Blaize — see deck notes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6172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reflect public reporting as of mid-2026 and should be reconfirmed before formal outreach.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Chhattisgarh AI Collaboration Playbook</dc:title>
  <dc:subject>PptxGenJS Presentation</dc:subject>
  <dc:creator>AI Strategy</dc:creator>
  <cp:lastModifiedBy>AI Strategy</cp:lastModifiedBy>
  <cp:revision>1</cp:revision>
  <dcterms:created xsi:type="dcterms:W3CDTF">2026-07-06T07:30:48Z</dcterms:created>
  <dcterms:modified xsi:type="dcterms:W3CDTF">2026-07-06T07:30:48Z</dcterms:modified>
</cp:coreProperties>
</file>